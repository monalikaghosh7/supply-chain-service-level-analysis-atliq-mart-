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40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0D1B40"/>
                </a:solidFill>
                <a:latin typeface="Arial"/>
              </a:rPr>
              <a:t>Delivery Mix Per Month</a:t>
            </a:r>
          </a:p>
        </c:rich>
      </c:tx>
      <c:overlay val="0"/>
    </c:title>
    <c:autoTitleDeleted val="0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On-Time %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48.57</c:v>
                </c:pt>
                <c:pt idx="1">
                  <c:v>48.68</c:v>
                </c:pt>
                <c:pt idx="2">
                  <c:v>48.61</c:v>
                </c:pt>
                <c:pt idx="3">
                  <c:v>48.36</c:v>
                </c:pt>
                <c:pt idx="4">
                  <c:v>49.11</c:v>
                </c:pt>
                <c:pt idx="5">
                  <c:v>47.98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252-45AE-BE5C-7F5C6C02500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Late %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40.43</c:v>
                </c:pt>
                <c:pt idx="1">
                  <c:v>40.68</c:v>
                </c:pt>
                <c:pt idx="2">
                  <c:v>41.5</c:v>
                </c:pt>
                <c:pt idx="3">
                  <c:v>41.49</c:v>
                </c:pt>
                <c:pt idx="4">
                  <c:v>40.61</c:v>
                </c:pt>
                <c:pt idx="5">
                  <c:v>41.12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252-45AE-BE5C-7F5C6C02500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Early %</c:v>
                </c:pt>
              </c:strCache>
            </c:strRef>
          </c:tx>
          <c:spPr>
            <a:solidFill>
              <a:srgbClr val="E65100"/>
            </a:solidFill>
            <a:effectLst/>
          </c:spPr>
          <c:invertIfNegative val="0"/>
          <c:cat>
            <c:strRef>
              <c:f>Sheet1!$A$2:$A$7</c:f>
              <c:strCache>
                <c:ptCount val="6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11</c:v>
                </c:pt>
                <c:pt idx="1">
                  <c:v>10.64</c:v>
                </c:pt>
                <c:pt idx="2">
                  <c:v>9.89</c:v>
                </c:pt>
                <c:pt idx="3">
                  <c:v>10.15</c:v>
                </c:pt>
                <c:pt idx="4">
                  <c:v>10.28</c:v>
                </c:pt>
                <c:pt idx="5">
                  <c:v>10.9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252-45AE-BE5C-7F5C6C02500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8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D1B40"/>
                </a:solidFill>
                <a:latin typeface="Arial"/>
              </a:defRPr>
            </a:pPr>
            <a:r>
              <a:rPr lang="en-US" sz="1000" b="0" i="0" u="none" strike="noStrike">
                <a:solidFill>
                  <a:srgbClr val="0D1B40"/>
                </a:solidFill>
                <a:latin typeface="Arial"/>
              </a:rPr>
              <a:t>How Late Are the Late Orders?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solidFill>
              <a:srgbClr val="2E7D32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A5AD-45A0-917E-33A94922B112}"/>
              </c:ext>
            </c:extLst>
          </c:dPt>
          <c:dPt>
            <c:idx val="1"/>
            <c:invertIfNegative val="0"/>
            <c:bubble3D val="0"/>
            <c:spPr>
              <a:solidFill>
                <a:srgbClr val="E651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A5AD-45A0-917E-33A94922B112}"/>
              </c:ext>
            </c:extLst>
          </c:dPt>
          <c:dPt>
            <c:idx val="2"/>
            <c:invertIfNegative val="0"/>
            <c:bubble3D val="0"/>
            <c:spPr>
              <a:solidFill>
                <a:srgbClr val="C62828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A5AD-45A0-917E-33A94922B11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93B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On Time / Early</c:v>
                </c:pt>
                <c:pt idx="1">
                  <c:v>1–2 Days Late</c:v>
                </c:pt>
                <c:pt idx="2">
                  <c:v>3–5 Days Late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18700</c:v>
                </c:pt>
                <c:pt idx="1">
                  <c:v>10400</c:v>
                </c:pt>
                <c:pt idx="2">
                  <c:v>2600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A5AD-45A0-917E-33A94922B11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0D1B40"/>
                </a:solidFill>
                <a:latin typeface="Arial"/>
              </a:defRPr>
            </a:pPr>
            <a:r>
              <a:rPr lang="en-IN" sz="1200" b="0" i="0" u="none" strike="noStrike">
                <a:solidFill>
                  <a:srgbClr val="0D1B40"/>
                </a:solidFill>
                <a:latin typeface="Arial"/>
              </a:rPr>
              <a:t>OTIF% Actual vs Target (Mar–Aug 2022)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OTIF % Actual</c:v>
                </c:pt>
              </c:strCache>
            </c:strRef>
          </c:tx>
          <c:spPr>
            <a:ln w="38100" cap="flat">
              <a:solidFill>
                <a:srgbClr val="C6282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62828"/>
              </a:solidFill>
              <a:ln w="9525" cap="flat">
                <a:solidFill>
                  <a:srgbClr val="C6282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29</c:v>
                </c:pt>
                <c:pt idx="1">
                  <c:v>28.9</c:v>
                </c:pt>
                <c:pt idx="2">
                  <c:v>29</c:v>
                </c:pt>
                <c:pt idx="3">
                  <c:v>28.8</c:v>
                </c:pt>
                <c:pt idx="4">
                  <c:v>29.2</c:v>
                </c:pt>
                <c:pt idx="5">
                  <c:v>29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72B-4A3C-8286-3C771AB82B2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OTIF Target</c:v>
                </c:pt>
              </c:strCache>
            </c:strRef>
          </c:tx>
          <c:spPr>
            <a:ln w="38100" cap="flat">
              <a:solidFill>
                <a:srgbClr val="9BB8E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B8E8"/>
              </a:solidFill>
              <a:ln w="9525" cap="flat">
                <a:solidFill>
                  <a:srgbClr val="9BB8E8"/>
                </a:solidFill>
                <a:prstDash val="solid"/>
                <a:round/>
              </a:ln>
              <a:effectLst/>
            </c:spPr>
          </c:marker>
          <c:cat>
            <c:strRef>
              <c:f>Sheet1!$A$2:$A$7</c:f>
              <c:strCache>
                <c:ptCount val="6"/>
                <c:pt idx="0">
                  <c:v>Mar</c:v>
                </c:pt>
                <c:pt idx="1">
                  <c:v>Apr</c:v>
                </c:pt>
                <c:pt idx="2">
                  <c:v>May</c:v>
                </c:pt>
                <c:pt idx="3">
                  <c:v>Jun</c:v>
                </c:pt>
                <c:pt idx="4">
                  <c:v>Jul</c:v>
                </c:pt>
                <c:pt idx="5">
                  <c:v>Aug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65.900000000000006</c:v>
                </c:pt>
                <c:pt idx="1">
                  <c:v>65.900000000000006</c:v>
                </c:pt>
                <c:pt idx="2">
                  <c:v>65.900000000000006</c:v>
                </c:pt>
                <c:pt idx="3">
                  <c:v>65.900000000000006</c:v>
                </c:pt>
                <c:pt idx="4">
                  <c:v>65.900000000000006</c:v>
                </c:pt>
                <c:pt idx="5">
                  <c:v>65.900000000000006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72B-4A3C-8286-3C771AB82B2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80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C62828"/>
                </a:solidFill>
                <a:latin typeface="Arial"/>
              </a:defRPr>
            </a:pPr>
            <a:r>
              <a:rPr lang="en-US" sz="1100" b="0" i="0" u="none" strike="noStrike">
                <a:solidFill>
                  <a:srgbClr val="C62828"/>
                </a:solidFill>
                <a:latin typeface="Arial"/>
              </a:rPr>
              <a:t>OTIF% Per Customer  (Target = 65.9%)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OTIF %</c:v>
                </c:pt>
              </c:strCache>
            </c:strRef>
          </c:tx>
          <c:spPr>
            <a:solidFill>
              <a:srgbClr val="C6282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192D-4E8F-8685-295BA5952E2F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192D-4E8F-8685-295BA5952E2F}"/>
              </c:ext>
            </c:extLst>
          </c:dPt>
          <c:dPt>
            <c:idx val="2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5-192D-4E8F-8685-295BA5952E2F}"/>
              </c:ext>
            </c:extLst>
          </c:dPt>
          <c:dPt>
            <c:idx val="3"/>
            <c:invertIfNegative val="0"/>
            <c:bubble3D val="0"/>
            <c:spPr>
              <a:solidFill>
                <a:srgbClr val="E651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192D-4E8F-8685-295BA5952E2F}"/>
              </c:ext>
            </c:extLst>
          </c:dPt>
          <c:dPt>
            <c:idx val="4"/>
            <c:invertIfNegative val="0"/>
            <c:bubble3D val="0"/>
            <c:spPr>
              <a:solidFill>
                <a:srgbClr val="E651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192D-4E8F-8685-295BA5952E2F}"/>
              </c:ext>
            </c:extLst>
          </c:dPt>
          <c:dPt>
            <c:idx val="5"/>
            <c:invertIfNegative val="0"/>
            <c:bubble3D val="0"/>
            <c:spPr>
              <a:solidFill>
                <a:srgbClr val="E6510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192D-4E8F-8685-295BA5952E2F}"/>
              </c:ext>
            </c:extLst>
          </c:dPt>
          <c:dPt>
            <c:idx val="6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192D-4E8F-8685-295BA5952E2F}"/>
              </c:ext>
            </c:extLst>
          </c:dPt>
          <c:dPt>
            <c:idx val="7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192D-4E8F-8685-295BA5952E2F}"/>
              </c:ext>
            </c:extLst>
          </c:dPt>
          <c:dPt>
            <c:idx val="8"/>
            <c:invertIfNegative val="0"/>
            <c:bubble3D val="0"/>
            <c:spPr>
              <a:solidFill>
                <a:srgbClr val="2E7D3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192D-4E8F-8685-295BA5952E2F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FFFFFF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Coolblue</c:v>
                </c:pt>
                <c:pt idx="1">
                  <c:v>Acclaimed</c:v>
                </c:pt>
                <c:pt idx="2">
                  <c:v>Lotus Mart</c:v>
                </c:pt>
                <c:pt idx="3">
                  <c:v>Elite Mart</c:v>
                </c:pt>
                <c:pt idx="4">
                  <c:v>Info Stores</c:v>
                </c:pt>
                <c:pt idx="5">
                  <c:v>Sorefoz Mart</c:v>
                </c:pt>
                <c:pt idx="6">
                  <c:v>Vijay Stores</c:v>
                </c:pt>
                <c:pt idx="7">
                  <c:v>Rel Fresh</c:v>
                </c:pt>
                <c:pt idx="8">
                  <c:v>Expression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13.7</c:v>
                </c:pt>
                <c:pt idx="1">
                  <c:v>15.5</c:v>
                </c:pt>
                <c:pt idx="2">
                  <c:v>16.3</c:v>
                </c:pt>
                <c:pt idx="3">
                  <c:v>24.4</c:v>
                </c:pt>
                <c:pt idx="4">
                  <c:v>25.5</c:v>
                </c:pt>
                <c:pt idx="5">
                  <c:v>25.9</c:v>
                </c:pt>
                <c:pt idx="6">
                  <c:v>28.3</c:v>
                </c:pt>
                <c:pt idx="7">
                  <c:v>38.200000000000003</c:v>
                </c:pt>
                <c:pt idx="8">
                  <c:v>38.4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2-192D-4E8F-8685-295BA5952E2F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1E293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A6A7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38611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0"/>
            <a:ext cx="1097280" cy="5143500"/>
          </a:xfrm>
          <a:prstGeom prst="rect">
            <a:avLst/>
          </a:prstGeom>
          <a:solidFill>
            <a:srgbClr val="0A1530"/>
          </a:solidFill>
          <a:ln w="12700">
            <a:solidFill>
              <a:srgbClr val="0A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384048"/>
            <a:ext cx="1463040" cy="34747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384048"/>
            <a:ext cx="1463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AtliQ Mart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960120"/>
            <a:ext cx="7315200" cy="1783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Chain</a:t>
            </a:r>
            <a:endParaRPr lang="en-US" sz="4200" dirty="0"/>
          </a:p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Analysis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502920" y="28346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C4E0"/>
                </a:solidFill>
              </a:rPr>
              <a:t>Solving the Customer Contract Loss Problem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02920" y="3401568"/>
            <a:ext cx="6400800" cy="0"/>
          </a:xfrm>
          <a:prstGeom prst="line">
            <a:avLst/>
          </a:prstGeom>
          <a:noFill/>
          <a:ln w="1905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356616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</a:rPr>
              <a:t>Presented by: Peter Pandey  ·  Data Analyst, AtliQ Mart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02920" y="3886200"/>
            <a:ext cx="6858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C4E0"/>
                </a:solidFill>
              </a:rPr>
              <a:t>Data Period: March 2022 – August 2022   |   Cities: Surat · Ahmedabad · Vadodara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577840" y="8686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</a:rPr>
              <a:t>32K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5577840" y="15087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0"/>
                </a:solidFill>
              </a:rPr>
              <a:t>Total Orders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852160" y="1874520"/>
            <a:ext cx="1554480" cy="0"/>
          </a:xfrm>
          <a:prstGeom prst="line">
            <a:avLst/>
          </a:prstGeom>
          <a:noFill/>
          <a:ln w="6350">
            <a:solidFill>
              <a:srgbClr val="22336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77840" y="22402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</a:rPr>
              <a:t>57K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5577840" y="28803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0"/>
                </a:solidFill>
              </a:rPr>
              <a:t>Order Lines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852160" y="3246120"/>
            <a:ext cx="1554480" cy="0"/>
          </a:xfrm>
          <a:prstGeom prst="line">
            <a:avLst/>
          </a:prstGeom>
          <a:noFill/>
          <a:ln w="6350">
            <a:solidFill>
              <a:srgbClr val="22336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77840" y="361188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</a:rPr>
              <a:t>35</a:t>
            </a:r>
            <a:endParaRPr lang="en-US" sz="3200" dirty="0"/>
          </a:p>
        </p:txBody>
      </p:sp>
      <p:sp>
        <p:nvSpPr>
          <p:cNvPr id="18" name="Text 16"/>
          <p:cNvSpPr/>
          <p:nvPr/>
        </p:nvSpPr>
        <p:spPr>
          <a:xfrm>
            <a:off x="5577840" y="4251960"/>
            <a:ext cx="21031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8C4E0"/>
                </a:solidFill>
              </a:rPr>
              <a:t>Customers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Are We Here? — The Business Problem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8412480" cy="658368"/>
          </a:xfrm>
          <a:prstGeom prst="rect">
            <a:avLst/>
          </a:prstGeom>
          <a:solidFill>
            <a:srgbClr val="FFF1F0"/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868680"/>
            <a:ext cx="80467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62828"/>
                </a:solidFill>
              </a:rPr>
              <a:t>🚨  Key customers did NOT renew their annual contracts — because products were not delivered On Time or In Full, repeatedly.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365760" y="1627632"/>
            <a:ext cx="4023360" cy="2606040"/>
          </a:xfrm>
          <a:prstGeom prst="rect">
            <a:avLst/>
          </a:prstGeom>
          <a:solidFill>
            <a:srgbClr val="FFF1F0"/>
          </a:solidFill>
          <a:ln w="10160">
            <a:solidFill>
              <a:srgbClr val="C62828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548640" y="171907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62828"/>
                </a:solidFill>
              </a:rPr>
              <a:t>❌  What Went Wrong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Products were not delivered on time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594360" y="267004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Orders were not fulfilled in full quantity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4360" y="319125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No system existed to track service levels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94360" y="371246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Management had no early warning to react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09160" y="1627632"/>
            <a:ext cx="4023360" cy="2606040"/>
          </a:xfrm>
          <a:prstGeom prst="rect">
            <a:avLst/>
          </a:prstGeom>
          <a:solidFill>
            <a:srgbClr val="EFF6FF"/>
          </a:solidFill>
          <a:ln w="10160">
            <a:solidFill>
              <a:srgbClr val="1565C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4892040" y="171907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565C0"/>
                </a:solidFill>
              </a:rPr>
              <a:t>✅  What Management Decided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937760" y="2148840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Track On Time %, In Full % and OTIF % daily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2670048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Compare performance against set targets per customer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937760" y="3191256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Find out which customers and cities are at highest risk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712464"/>
            <a:ext cx="36118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</a:rPr>
              <a:t>Fix service issues BEFORE expanding to new cities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343400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</a:rPr>
              <a:t>AtliQ Mart currently operates in Surat · Ahmedabad · Vadodara and plans to expand to Tier-1 cities within 2 years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Understanding the Metrics — Simple Definitions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841248"/>
            <a:ext cx="2724912" cy="1755648"/>
          </a:xfrm>
          <a:prstGeom prst="rect">
            <a:avLst/>
          </a:prstGeom>
          <a:solidFill>
            <a:srgbClr val="EFF6FF"/>
          </a:solidFill>
          <a:ln w="7620">
            <a:solidFill>
              <a:srgbClr val="1565C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841248"/>
            <a:ext cx="2724912" cy="3840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850392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OT%  —  On Time Delivery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12984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Were orders delivered on the agreed date?  ALL items in an order must arrive on time to count as On Time.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457200" y="2331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565C0"/>
                </a:solidFill>
              </a:rPr>
              <a:t>Target: 86.09%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218688" y="841248"/>
            <a:ext cx="2724912" cy="1755648"/>
          </a:xfrm>
          <a:prstGeom prst="rect">
            <a:avLst/>
          </a:prstGeom>
          <a:solidFill>
            <a:srgbClr val="F0FDFA"/>
          </a:solidFill>
          <a:ln w="7620">
            <a:solidFill>
              <a:srgbClr val="0891B2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218688" y="841248"/>
            <a:ext cx="2724912" cy="384048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310128" y="850392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IF%  —  In Full Delivery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310128" y="12984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Were orders delivered in the full quantity requested?  ALL items must be fully shipped to count as In Full.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310128" y="2331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891B2"/>
                </a:solidFill>
              </a:rPr>
              <a:t>Target: 76.51%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071616" y="841248"/>
            <a:ext cx="2724912" cy="1755648"/>
          </a:xfrm>
          <a:prstGeom prst="rect">
            <a:avLst/>
          </a:prstGeom>
          <a:solidFill>
            <a:srgbClr val="FFF1F0"/>
          </a:solidFill>
          <a:ln w="7620">
            <a:solidFill>
              <a:srgbClr val="C62828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071616" y="841248"/>
            <a:ext cx="2724912" cy="3840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63056" y="850392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OTIF%  —  On Time In Full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63056" y="129844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Were orders delivered BOTH on time AND in full?  This is the hardest metric — it fails if either OT or IF fails.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163056" y="233172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C62828"/>
                </a:solidFill>
              </a:rPr>
              <a:t>Target: 65.91%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1737360" y="2743200"/>
            <a:ext cx="2724912" cy="1755648"/>
          </a:xfrm>
          <a:prstGeom prst="rect">
            <a:avLst/>
          </a:prstGeom>
          <a:solidFill>
            <a:srgbClr val="F5F0FF"/>
          </a:solidFill>
          <a:ln w="7620">
            <a:solidFill>
              <a:srgbClr val="5E35B1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1737360" y="2743200"/>
            <a:ext cx="2724912" cy="38404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28800" y="2752344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LIFR%  —  Line Fill Rate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828800" y="32004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How many order lines were shipped out of total lines ordered?  Does NOT consider timing — just availability.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828800" y="42336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5E35B1"/>
                </a:solidFill>
              </a:rPr>
              <a:t>No fixed target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590288" y="2743200"/>
            <a:ext cx="2724912" cy="1755648"/>
          </a:xfrm>
          <a:prstGeom prst="rect">
            <a:avLst/>
          </a:prstGeom>
          <a:solidFill>
            <a:srgbClr val="F0FFF4"/>
          </a:solidFill>
          <a:ln w="7620">
            <a:solidFill>
              <a:srgbClr val="2E7D32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590288" y="2743200"/>
            <a:ext cx="2724912" cy="38404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681728" y="2752344"/>
            <a:ext cx="254203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VOFR%  —  Volume Fill Rate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681728" y="320040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How much of the total ordered quantity was actually shipped?  Measures how well we match order volume.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81728" y="4233672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E7D32"/>
                </a:solidFill>
              </a:rPr>
              <a:t>No fixed target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65760" y="4626864"/>
            <a:ext cx="8412480" cy="347472"/>
          </a:xfrm>
          <a:prstGeom prst="rect">
            <a:avLst/>
          </a:prstGeom>
          <a:solidFill>
            <a:srgbClr val="EFF6FF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4645152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</a:rPr>
              <a:t>💡  Key Rule: OTIF is the toughest — if either OT or IF fails, the entire order is counted as OTIF failed. That's why OTIF is always the lowest number.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1  ·  Overview  — Business Health Snapshot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2011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47472" y="85039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565C0"/>
                </a:solidFill>
              </a:rPr>
              <a:t>32K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347472" y="1307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Total Orders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496312" y="822960"/>
            <a:ext cx="2011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96312" y="85039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</a:rPr>
              <a:t>57K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96312" y="1307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Total Order Lines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45152" y="822960"/>
            <a:ext cx="2011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645152" y="85039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C62828"/>
                </a:solidFill>
              </a:rPr>
              <a:t>23K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45152" y="1307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Failed Orders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6793992" y="822960"/>
            <a:ext cx="2011680" cy="841248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93992" y="850392"/>
            <a:ext cx="2011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E65100"/>
                </a:solidFill>
              </a:rPr>
              <a:t>2 Days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793992" y="1307592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5A6A7A"/>
                </a:solidFill>
              </a:rPr>
              <a:t>Avg Delay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347472" y="1783080"/>
            <a:ext cx="8430768" cy="457200"/>
          </a:xfrm>
          <a:prstGeom prst="rect">
            <a:avLst/>
          </a:prstGeom>
          <a:solidFill>
            <a:srgbClr val="EFF6FF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02920" y="1810512"/>
            <a:ext cx="822960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</a:rPr>
              <a:t>📌  Page Story: "At a high level, AtliQ Mart is facing a big supply-demand mismatch. Failure rates are higher than success rates. Both fulfillment and delivery are broken."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350008"/>
            <a:ext cx="4160520" cy="1261872"/>
          </a:xfrm>
          <a:prstGeom prst="rect">
            <a:avLst/>
          </a:prstGeom>
          <a:solidFill>
            <a:srgbClr val="FFF1F0"/>
          </a:solidFill>
          <a:ln w="7620">
            <a:solidFill>
              <a:srgbClr val="C62828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2350008"/>
            <a:ext cx="64008" cy="12618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24140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</a:rPr>
              <a:t>📦  35–40% of Demand Is Not Being Fulfilled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27157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Every month, ordered quantity is around 2.2–2.3 million units.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But delivered quantity is only 1.4–1.5 million.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This means 35–40% of what customers ordered never arrives.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663440" y="2350008"/>
            <a:ext cx="4160520" cy="1261872"/>
          </a:xfrm>
          <a:prstGeom prst="rect">
            <a:avLst/>
          </a:prstGeom>
          <a:solidFill>
            <a:srgbClr val="FFF8F0"/>
          </a:solidFill>
          <a:ln w="7620">
            <a:solidFill>
              <a:srgbClr val="E6510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663440" y="2350008"/>
            <a:ext cx="64008" cy="126187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18888" y="241401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5100"/>
                </a:solidFill>
              </a:rPr>
              <a:t>📉  For Every 2 Lines Filled, 1 Line Is Left Unfilled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18888" y="2715768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Unfilled lines are nearly 50% of filled lines every month.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This is the direct reason our In-Full % is so low.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The supply chain simply cannot keep up with what customers need.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47472" y="3703320"/>
            <a:ext cx="4160520" cy="1261872"/>
          </a:xfrm>
          <a:prstGeom prst="rect">
            <a:avLst/>
          </a:prstGeom>
          <a:solidFill>
            <a:srgbClr val="FFF1F0"/>
          </a:solidFill>
          <a:ln w="7620">
            <a:solidFill>
              <a:srgbClr val="C62828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347472" y="3703320"/>
            <a:ext cx="64008" cy="126187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3767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</a:rPr>
              <a:t>❌  More Orders Fail Than Succeed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502920" y="40690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Failed orders: 23,000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Successful orders: 15,000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Over 60% failure rate — this is why customers are not renewing contracts.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703320"/>
            <a:ext cx="4160520" cy="1261872"/>
          </a:xfrm>
          <a:prstGeom prst="rect">
            <a:avLst/>
          </a:prstGeom>
          <a:solidFill>
            <a:srgbClr val="EFF6FF"/>
          </a:solidFill>
          <a:ln w="7620">
            <a:solidFill>
              <a:srgbClr val="1565C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703320"/>
            <a:ext cx="64008" cy="126187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376732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🚚  Late Deliveries Are Almost As Common As On-Time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818888" y="4069080"/>
            <a:ext cx="3840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Late orders are a very high share of total deliveries.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Early deliveries also exist — which shows poor delivery planning.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Average delay = 2 days — and this has NOT improved over 6 months.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2  ·  Metric Performance  — Are We Meeting Targets?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47472" y="822960"/>
            <a:ext cx="16002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47472" y="822960"/>
            <a:ext cx="160020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822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OTIF%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47472" y="111556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62828"/>
                </a:solidFill>
              </a:rPr>
              <a:t>29%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347472" y="14813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62828"/>
                </a:solidFill>
              </a:rPr>
              <a:t>−36.9%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66544" y="822960"/>
            <a:ext cx="16002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066544" y="822960"/>
            <a:ext cx="160020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066544" y="822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OT%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11556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62828"/>
                </a:solidFill>
              </a:rPr>
              <a:t>59%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66544" y="14813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62828"/>
                </a:solidFill>
              </a:rPr>
              <a:t>−27.1%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785616" y="822960"/>
            <a:ext cx="16002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785616" y="822960"/>
            <a:ext cx="1600200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785616" y="822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IF%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785616" y="111556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C62828"/>
                </a:solidFill>
              </a:rPr>
              <a:t>53%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785616" y="14813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C62828"/>
                </a:solidFill>
              </a:rPr>
              <a:t>−23.7%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504688" y="822960"/>
            <a:ext cx="16002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504688" y="822960"/>
            <a:ext cx="1600200" cy="27432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04688" y="822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LIFR%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504688" y="111556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565C0"/>
                </a:solidFill>
              </a:rPr>
              <a:t>65.96%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504688" y="14813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565C0"/>
                </a:solidFill>
              </a:rPr>
              <a:t>Tracked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223760" y="822960"/>
            <a:ext cx="1600200" cy="1024128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223760" y="822960"/>
            <a:ext cx="1600200" cy="274320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223760" y="82296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FFFFFF"/>
                </a:solidFill>
              </a:rPr>
              <a:t>VOFR%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7223760" y="1115568"/>
            <a:ext cx="1600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E7D32"/>
                </a:solidFill>
              </a:rPr>
              <a:t>96.59%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7223760" y="1481328"/>
            <a:ext cx="1600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E7D32"/>
                </a:solidFill>
              </a:rPr>
              <a:t>✓ Strong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47472" y="1947672"/>
            <a:ext cx="8430768" cy="429768"/>
          </a:xfrm>
          <a:prstGeom prst="rect">
            <a:avLst/>
          </a:prstGeom>
          <a:solidFill>
            <a:srgbClr val="FFF1F0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" y="1965960"/>
            <a:ext cx="822960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62828"/>
                </a:solidFill>
              </a:rPr>
              <a:t>📌  Page Story: "We are failing across ALL service dimensions — On Time, In Full, and OTIF. Every city and most customers are below target."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47472" y="2468880"/>
            <a:ext cx="4160520" cy="1207008"/>
          </a:xfrm>
          <a:prstGeom prst="rect">
            <a:avLst/>
          </a:prstGeom>
          <a:solidFill>
            <a:srgbClr val="FFF1F0"/>
          </a:solidFill>
          <a:ln w="7620">
            <a:solidFill>
              <a:srgbClr val="C62828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47472" y="2468880"/>
            <a:ext cx="64008" cy="12070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2532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</a:rPr>
              <a:t>🚨  All 3 Main KPIs Are Below Target — Badly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502920" y="2834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OTIF: 29% vs target 65.9%  (gap = −36.9%)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On Time: 59% vs target 86.1%  (gap = −27.1%)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In Full: 53% vs target 76.5%  (gap = −23.7%)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We are failing across every service dimension.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663440" y="2468880"/>
            <a:ext cx="4160520" cy="1207008"/>
          </a:xfrm>
          <a:prstGeom prst="rect">
            <a:avLst/>
          </a:prstGeom>
          <a:solidFill>
            <a:srgbClr val="FFF8F0"/>
          </a:solidFill>
          <a:ln w="7620">
            <a:solidFill>
              <a:srgbClr val="E6510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663440" y="2468880"/>
            <a:ext cx="64008" cy="12070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253288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5100"/>
                </a:solidFill>
              </a:rPr>
              <a:t>🏙️  Every City Is Below Target — Vadodara Is Worst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818888" y="2834640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All 3 cities are failing to meet OTIF targets.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Vadodara has the worst OTIF at just 27.8%.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This is a company-wide problem — not just one city.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But some cities need more urgent attention than others.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347472" y="3767328"/>
            <a:ext cx="4160520" cy="1207008"/>
          </a:xfrm>
          <a:prstGeom prst="rect">
            <a:avLst/>
          </a:prstGeom>
          <a:solidFill>
            <a:srgbClr val="FFF1F0"/>
          </a:solidFill>
          <a:ln w="7620">
            <a:solidFill>
              <a:srgbClr val="C62828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347472" y="3767328"/>
            <a:ext cx="64008" cy="12070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02920" y="38313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</a:rPr>
              <a:t>👥  High-Risk Customers — About to Stop Renewing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502920" y="41330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Coolblue: 13.7% OTIF  |  Acclaimed: 15.5%  |  Lotus Mart: 16.3%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These customers get correct orders less than 1 in 6 times.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Both delays AND partial deliveries are hitting them together.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They are the most likely ones who did not renew.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663440" y="3767328"/>
            <a:ext cx="4160520" cy="1207008"/>
          </a:xfrm>
          <a:prstGeom prst="rect">
            <a:avLst/>
          </a:prstGeom>
          <a:solidFill>
            <a:srgbClr val="EFF6FF"/>
          </a:solidFill>
          <a:ln w="7620">
            <a:solidFill>
              <a:srgbClr val="1565C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4663440" y="3767328"/>
            <a:ext cx="64008" cy="12070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18888" y="3831336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📦  The Issue Is Line Availability, Not Order Volume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818888" y="4133088"/>
            <a:ext cx="3840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VOFR (volume) is strong at 96.59% — so volume is being shipped.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But LIFR (line fill) is only 65–68% — many product lines are missed.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This means: stock exists, but the RIGHT products aren't being sent.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1E293B"/>
                </a:solidFill>
              </a:rPr>
              <a:t>Inventory planning and allocation need to improve.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3  ·  Chart Analysis  — Why Is Performance Poor?</a:t>
            </a:r>
            <a:endParaRPr lang="en-US" sz="2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29200" y="804672"/>
          <a:ext cx="3794760" cy="21031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5029200" y="2999232"/>
          <a:ext cx="3794760" cy="18288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6" name="Shape 2"/>
          <p:cNvSpPr/>
          <p:nvPr/>
        </p:nvSpPr>
        <p:spPr>
          <a:xfrm>
            <a:off x="347472" y="804672"/>
            <a:ext cx="4462272" cy="429768"/>
          </a:xfrm>
          <a:prstGeom prst="rect">
            <a:avLst/>
          </a:prstGeom>
          <a:solidFill>
            <a:srgbClr val="EFF6FF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7" name="Text 3"/>
          <p:cNvSpPr/>
          <p:nvPr/>
        </p:nvSpPr>
        <p:spPr>
          <a:xfrm>
            <a:off x="475488" y="822960"/>
            <a:ext cx="420624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565C0"/>
                </a:solidFill>
              </a:rPr>
              <a:t>📌  Story: "Partial delivery is the #1 problem. Short delays are #2. Both are fixable."</a:t>
            </a:r>
            <a:endParaRPr lang="en-US" sz="950" dirty="0"/>
          </a:p>
        </p:txBody>
      </p:sp>
      <p:sp>
        <p:nvSpPr>
          <p:cNvPr id="8" name="Shape 4"/>
          <p:cNvSpPr/>
          <p:nvPr/>
        </p:nvSpPr>
        <p:spPr>
          <a:xfrm>
            <a:off x="347472" y="1325880"/>
            <a:ext cx="4462272" cy="841248"/>
          </a:xfrm>
          <a:prstGeom prst="rect">
            <a:avLst/>
          </a:prstGeom>
          <a:solidFill>
            <a:srgbClr val="FFF1F0"/>
          </a:solidFill>
          <a:ln w="7620">
            <a:solidFill>
              <a:srgbClr val="C62828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5"/>
          <p:cNvSpPr/>
          <p:nvPr/>
        </p:nvSpPr>
        <p:spPr>
          <a:xfrm>
            <a:off x="347472" y="1325880"/>
            <a:ext cx="64008" cy="84124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502920" y="1380744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</a:rPr>
              <a:t>🔴  Partial Delivery Is the #1 Root Cause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02920" y="1655064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In all product categories — Dairy, Beverages, Food —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around 63–65% of order failures are due to partial delivery.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We are NOT sending the full quantity ordered.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This directly kills the In-Full % metric.</a:t>
            </a:r>
            <a:endParaRPr lang="en-US" sz="900" dirty="0"/>
          </a:p>
        </p:txBody>
      </p:sp>
      <p:sp>
        <p:nvSpPr>
          <p:cNvPr id="12" name="Shape 8"/>
          <p:cNvSpPr/>
          <p:nvPr/>
        </p:nvSpPr>
        <p:spPr>
          <a:xfrm>
            <a:off x="347472" y="2258568"/>
            <a:ext cx="4462272" cy="841248"/>
          </a:xfrm>
          <a:prstGeom prst="rect">
            <a:avLst/>
          </a:prstGeom>
          <a:solidFill>
            <a:srgbClr val="FFF8F0"/>
          </a:solidFill>
          <a:ln w="7620">
            <a:solidFill>
              <a:srgbClr val="E6510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47472" y="2258568"/>
            <a:ext cx="64008" cy="84124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502920" y="2313432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5100"/>
                </a:solidFill>
              </a:rPr>
              <a:t>⏱️  Most Delays Are Only 1–2 Days — Very Fixable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502920" y="2587752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10,400 orders are just 1–2 days late.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Only 2,600 orders have severe 3–5 day delays.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This means 80% of late deliveries can be fixed with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better routing and dispatch scheduling.</a:t>
            </a:r>
            <a:endParaRPr lang="en-US" sz="900" dirty="0"/>
          </a:p>
        </p:txBody>
      </p:sp>
      <p:sp>
        <p:nvSpPr>
          <p:cNvPr id="16" name="Shape 12"/>
          <p:cNvSpPr/>
          <p:nvPr/>
        </p:nvSpPr>
        <p:spPr>
          <a:xfrm>
            <a:off x="347472" y="3191256"/>
            <a:ext cx="4462272" cy="841248"/>
          </a:xfrm>
          <a:prstGeom prst="rect">
            <a:avLst/>
          </a:prstGeom>
          <a:solidFill>
            <a:srgbClr val="EFF6FF"/>
          </a:solidFill>
          <a:ln w="7620">
            <a:solidFill>
              <a:srgbClr val="1565C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347472" y="3191256"/>
            <a:ext cx="64008" cy="84124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02920" y="3246120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📊  Delivery Mix Has Not Changed in 6 Months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502920" y="3520440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On-time stays at 48–49% every single month.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Late stays at 40–41% every month.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Nothing is improving. This shows the problem is NOT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being fixed at the operational level right now.</a:t>
            </a:r>
            <a:endParaRPr lang="en-US" sz="900" dirty="0"/>
          </a:p>
        </p:txBody>
      </p:sp>
      <p:sp>
        <p:nvSpPr>
          <p:cNvPr id="20" name="Shape 16"/>
          <p:cNvSpPr/>
          <p:nvPr/>
        </p:nvSpPr>
        <p:spPr>
          <a:xfrm>
            <a:off x="347472" y="4123944"/>
            <a:ext cx="4462272" cy="841248"/>
          </a:xfrm>
          <a:prstGeom prst="rect">
            <a:avLst/>
          </a:prstGeom>
          <a:solidFill>
            <a:srgbClr val="F5F0FF"/>
          </a:solidFill>
          <a:ln w="7620">
            <a:solidFill>
              <a:srgbClr val="5E35B1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347472" y="4123944"/>
            <a:ext cx="64008" cy="84124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02920" y="4178808"/>
            <a:ext cx="4160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35B1"/>
                </a:solidFill>
              </a:rPr>
              <a:t>👥  Same Customers Keep Getting Poor Service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502920" y="4453128"/>
            <a:ext cx="41605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Customers like Expression Stores, Rel Fresh, Vijay Stores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consistently show up in the 'high risk' zone.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They are likely the ones who did not renew contracts.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They need urgent priority attention.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1A3A6B"/>
          </a:solidFill>
          <a:ln w="12700">
            <a:solidFill>
              <a:srgbClr val="1A3A6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Page 4  ·  Trend Analysis  — When Did Things Go Wrong?</a:t>
            </a:r>
            <a:endParaRPr lang="en-US" sz="21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47472" y="822960"/>
          <a:ext cx="4754880" cy="2514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347472" y="3429000"/>
            <a:ext cx="4754880" cy="475488"/>
          </a:xfrm>
          <a:prstGeom prst="rect">
            <a:avLst/>
          </a:prstGeom>
          <a:solidFill>
            <a:srgbClr val="FFF1F0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475488" y="3456432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C62828"/>
                </a:solidFill>
              </a:rPr>
              <a:t>🔴  Gap to Target = −36.9 percentage points — and this has been FLAT across all 6 months. Zero improvement.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347472" y="3977640"/>
            <a:ext cx="4754880" cy="475488"/>
          </a:xfrm>
          <a:prstGeom prst="rect">
            <a:avLst/>
          </a:prstGeom>
          <a:solidFill>
            <a:srgbClr val="EFF6FF"/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75488" y="4005072"/>
            <a:ext cx="448056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565C0"/>
                </a:solidFill>
              </a:rPr>
              <a:t>💡  VOFR stays at 96%+ — so stock IS being shipped. The real problem is timing and planning, not missing inventory.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47472" y="4544568"/>
            <a:ext cx="4754880" cy="429768"/>
          </a:xfrm>
          <a:prstGeom prst="rect">
            <a:avLst/>
          </a:prstGeom>
          <a:solidFill>
            <a:srgbClr val="F5F0FF"/>
          </a:solidFill>
          <a:ln w="6350">
            <a:solidFill>
              <a:srgbClr val="5E35B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" y="4572000"/>
            <a:ext cx="4526280" cy="3931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E35B1"/>
                </a:solidFill>
              </a:rPr>
              <a:t>📌  Story: "The problem started from Day 1 and has NEVER improved. Current operations are simply not working."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5321808" y="822960"/>
            <a:ext cx="347472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321808" y="822960"/>
            <a:ext cx="64008" cy="9784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468112" y="877824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</a:rPr>
              <a:t>📉  OTIF Has Never Improved — Not Even Once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5468112" y="1170432"/>
            <a:ext cx="3200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From March to August, OTIF stays at exactly 29%.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The target is 65.9% — more than double what we are achieving.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This is not a short-term dip. The problem has been there all along.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321808" y="1892808"/>
            <a:ext cx="347472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321808" y="1892808"/>
            <a:ext cx="64008" cy="9784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468112" y="1947672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5100"/>
                </a:solidFill>
              </a:rPr>
              <a:t>🔁  On Time % and In Full % Both Show the Same Flat Line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468112" y="2240280"/>
            <a:ext cx="3200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All metrics — OT, IF, LIFR, VOFR — are checked in the Trend page.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None of them show an upward trend across the 6 months.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The operations team has not been able to fix anything so far.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321808" y="2962656"/>
            <a:ext cx="347472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321808" y="2962656"/>
            <a:ext cx="64008" cy="9784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468112" y="301752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🏭  The Problem Is Structural — Not a Bad Month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5468112" y="3310128"/>
            <a:ext cx="3200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There are no seasonal ups and downs in the data.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Every month looks the same — stuck at the same low level.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This means we cannot wait for things to 'naturally improve'.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We need to make real operational changes.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5321808" y="4032504"/>
            <a:ext cx="3474720" cy="978408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5321808" y="4032504"/>
            <a:ext cx="64008" cy="978408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5468112" y="408736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32"/>
                </a:solidFill>
              </a:rPr>
              <a:t>✅  Good News: Volume Fill (VOFR) Is Strong at 96%+</a:t>
            </a:r>
            <a:endParaRPr lang="en-US" sz="1050" dirty="0"/>
          </a:p>
        </p:txBody>
      </p:sp>
      <p:sp>
        <p:nvSpPr>
          <p:cNvPr id="26" name="Text 23"/>
          <p:cNvSpPr/>
          <p:nvPr/>
        </p:nvSpPr>
        <p:spPr>
          <a:xfrm>
            <a:off x="5468112" y="4379976"/>
            <a:ext cx="320040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VOFR being high tells us: stock is available and being shipped.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But OTIF is only 29% — so timing is the bigger problem.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We don't need more inventory. We need better delivery planning.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2296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🚨  High-Risk Customer Deep Dive — Who Is Most Likely to Churn?</a:t>
            </a:r>
            <a:endParaRPr lang="en-US" sz="19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04672"/>
          <a:ext cx="4663440" cy="400507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166360" y="804672"/>
            <a:ext cx="3657600" cy="978408"/>
          </a:xfrm>
          <a:prstGeom prst="rect">
            <a:avLst/>
          </a:prstGeom>
          <a:solidFill>
            <a:srgbClr val="FFF1F0"/>
          </a:solidFill>
          <a:ln w="7620">
            <a:solidFill>
              <a:srgbClr val="C62828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5166360" y="804672"/>
            <a:ext cx="64008" cy="978408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330952" y="86868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</a:rPr>
              <a:t>🔴  Red Zone: Coolblue, Acclaimed, Lotus Mart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5330952" y="1161288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These 3 customers have OTIF below 17%.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Only 1 in 6 orders meets service standards.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They almost certainly represent the lost contracts.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They need an immediate rescue plan — today.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166360" y="1874520"/>
            <a:ext cx="3657600" cy="978408"/>
          </a:xfrm>
          <a:prstGeom prst="rect">
            <a:avLst/>
          </a:prstGeom>
          <a:solidFill>
            <a:srgbClr val="FFF8F0"/>
          </a:solidFill>
          <a:ln w="7620">
            <a:solidFill>
              <a:srgbClr val="E6510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166360" y="1874520"/>
            <a:ext cx="64008" cy="978408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5330952" y="19385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5100"/>
                </a:solidFill>
              </a:rPr>
              <a:t>🟠  Amber Zone: 4 Customers at 24–29% OTIF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330952" y="2231136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Elite Mart, Info Stores, Sorefoz Mart, Vijay Stores.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All are far below target but slightly better than Red.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If not addressed, they will move to Red zone soon.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Needs a targeted improvement plan within 30 days.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5166360" y="2944368"/>
            <a:ext cx="3657600" cy="978408"/>
          </a:xfrm>
          <a:prstGeom prst="rect">
            <a:avLst/>
          </a:prstGeom>
          <a:solidFill>
            <a:srgbClr val="F5F0FF"/>
          </a:solidFill>
          <a:ln w="7620">
            <a:solidFill>
              <a:srgbClr val="5E35B1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5166360" y="2944368"/>
            <a:ext cx="64008" cy="978408"/>
          </a:xfrm>
          <a:prstGeom prst="rect">
            <a:avLst/>
          </a:prstGeom>
          <a:solidFill>
            <a:srgbClr val="5E35B1"/>
          </a:solidFill>
          <a:ln w="12700">
            <a:solidFill>
              <a:srgbClr val="5E35B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5330952" y="3008376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5E35B1"/>
                </a:solidFill>
              </a:rPr>
              <a:t>🔍  Root Cause: BOTH Delays AND Partial Deliveries Are Happening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330952" y="3300984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Coolblue: ~2K delayed + ~1K partial orders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Acclaimed Stores: ~2K delayed + ~2K partial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Lotus Mart: ~2K delayed + ~2K partial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Both OT and IF are failing for the same customers at the same time.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5166360" y="4014216"/>
            <a:ext cx="3657600" cy="978408"/>
          </a:xfrm>
          <a:prstGeom prst="rect">
            <a:avLst/>
          </a:prstGeom>
          <a:solidFill>
            <a:srgbClr val="EFF6FF"/>
          </a:solidFill>
          <a:ln w="7620">
            <a:solidFill>
              <a:srgbClr val="1565C0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8" name="Shape 15"/>
          <p:cNvSpPr/>
          <p:nvPr/>
        </p:nvSpPr>
        <p:spPr>
          <a:xfrm>
            <a:off x="5166360" y="4014216"/>
            <a:ext cx="64008" cy="978408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330952" y="4078224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565C0"/>
                </a:solidFill>
              </a:rPr>
              <a:t>💡  Even the 'Best' Customers Are Still Failing</a:t>
            </a:r>
            <a:endParaRPr lang="en-US" sz="1050" dirty="0"/>
          </a:p>
        </p:txBody>
      </p:sp>
      <p:sp>
        <p:nvSpPr>
          <p:cNvPr id="20" name="Text 17"/>
          <p:cNvSpPr/>
          <p:nvPr/>
        </p:nvSpPr>
        <p:spPr>
          <a:xfrm>
            <a:off x="5330952" y="4370832"/>
            <a:ext cx="338328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Expression Stores (38.4%) and Rel Fresh (38.2%) look better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but are still only at 58% of the OTIF target.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Every single customer is receiving below-standard service.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1E293B"/>
                </a:solidFill>
              </a:rPr>
              <a:t>There is no customer where we are doing a good job.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Cause Summary — Why Is This Happening?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548640"/>
          </a:xfrm>
          <a:prstGeom prst="rect">
            <a:avLst/>
          </a:prstGeom>
          <a:solidFill>
            <a:srgbClr val="FFF1F0"/>
          </a:solidFill>
          <a:ln w="10160">
            <a:solidFill>
              <a:srgbClr val="C6282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50392"/>
            <a:ext cx="8138160" cy="4937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62828"/>
                </a:solidFill>
              </a:rPr>
              <a:t>🚨  Core Problem:  AtliQ Mart is failing to meet customer service levels because of high partial deliveries AND delayed shipments — happening together.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7472" y="1481328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481328"/>
            <a:ext cx="2743200" cy="43891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38912" y="149961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❌  Delivery / Timing Problem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029968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Routes are not optimised for delivery windows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2798064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80% of late orders are just 1–2 days late — fixable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566160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No system to detect and alert late deliveries early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4334256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Same late pattern every month — nothing is changing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27832" y="1481328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1481328"/>
            <a:ext cx="2743200" cy="43891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49961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❌  Inventory / Fulfilment Problem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337560" y="2029968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Orders are being partially fulfilled every month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37560" y="2798064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Dairy, Food, Beverages — all categories affected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37560" y="3566160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VOFR is 96% — so stock exists but wrong items sent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37560" y="4334256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Vadodara is the worst — IF% is only 51.6% there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108192" y="1481328"/>
            <a:ext cx="274320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108192" y="1481328"/>
            <a:ext cx="2743200" cy="43891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99632" y="1499616"/>
            <a:ext cx="2560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</a:rPr>
              <a:t>❌  Process / Visibility Problem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6217920" y="2029968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No analytics to track service levels existed before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6217920" y="2798064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Problem was happening for 6 months undetected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17920" y="3566160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No customer-level targets were being monitored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217920" y="4334256"/>
            <a:ext cx="2523744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</a:rPr>
              <a:t>No escalation when orders fall behind schedule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347472" y="4919472"/>
            <a:ext cx="8430768" cy="502920"/>
          </a:xfrm>
          <a:prstGeom prst="rect">
            <a:avLst/>
          </a:prstGeom>
          <a:solidFill>
            <a:srgbClr val="F5F0FF"/>
          </a:solidFill>
          <a:ln w="6350">
            <a:solidFill>
              <a:srgbClr val="5E35B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937760"/>
            <a:ext cx="8229600" cy="4663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E35B1"/>
                </a:solidFill>
              </a:rPr>
              <a:t>🧠  The data confirms: We have enough stock (VOFR 96%) — the failures are in HOW we deliver and HOW we allocate. These are fixable operational problems.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777240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Executive Summary — The Full Picture in One Page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347472" y="804672"/>
            <a:ext cx="8430768" cy="685800"/>
          </a:xfrm>
          <a:prstGeom prst="rect">
            <a:avLst/>
          </a:prstGeom>
          <a:solidFill>
            <a:srgbClr val="EFF6FF"/>
          </a:solidFill>
          <a:ln w="7620">
            <a:solidFill>
              <a:srgbClr val="1565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822960"/>
            <a:ext cx="8138160" cy="6492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1565C0"/>
                </a:solidFill>
              </a:rPr>
              <a:t>"AtliQ Mart is failing to meet customer service levels due to high partial deliveries and delayed shipments, leading to customer dissatisfaction and contract non-renewals. The analysis clearly shows that improving In-Full delivery and fixing key customer-level failures is critical for retaining customers and enabling successful business expansion."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347472" y="1618488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47472" y="1618488"/>
            <a:ext cx="64008" cy="10515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709928"/>
            <a:ext cx="347472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17099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#1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41832" y="17099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</a:rPr>
              <a:t>Low In-Full % — PRIMARY ISSUE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07568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53% vs 76.5% target. Orders are not being sent in full quantity. This is the single biggest driver of customer dissatisfaction.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663440" y="1618488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663440" y="1618488"/>
            <a:ext cx="64008" cy="105156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18888" y="1709928"/>
            <a:ext cx="347472" cy="27432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18888" y="17099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#2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5257800" y="17099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62828"/>
                </a:solidFill>
              </a:rPr>
              <a:t>High Late Deliveries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818888" y="207568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41% of orders are late every month. Average 2-day delay. Nothing has improved in 6 months of data.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47472" y="2761488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347472" y="2761488"/>
            <a:ext cx="64008" cy="10515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502920" y="2852928"/>
            <a:ext cx="347472" cy="274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28529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#3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941832" y="28529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5100"/>
                </a:solidFill>
              </a:rPr>
              <a:t>Supply-Demand Mismatch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502920" y="321868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35–40% of what customers order is never delivered. 23K orders fail vs only 15K successful. Structural problem.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63440" y="2761488"/>
            <a:ext cx="41605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663440" y="2761488"/>
            <a:ext cx="64008" cy="105156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818888" y="2852928"/>
            <a:ext cx="347472" cy="27432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18888" y="2852928"/>
            <a:ext cx="3474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#4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257800" y="2852928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65100"/>
                </a:solidFill>
              </a:rPr>
              <a:t>High-Risk Customers Ignored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818888" y="3218688"/>
            <a:ext cx="384048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E293B"/>
                </a:solidFill>
              </a:rPr>
              <a:t>Multiple customers at 13–25% OTIF. Both delays and partial deliveries hitting the same accounts simultaneously.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7472" y="3931920"/>
            <a:ext cx="8430768" cy="347472"/>
          </a:xfrm>
          <a:prstGeom prst="rect">
            <a:avLst/>
          </a:prstGeom>
          <a:solidFill>
            <a:srgbClr val="FFF1F0"/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395020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62828"/>
                </a:solidFill>
              </a:rPr>
              <a:t>⚠️  Business Impact:  Customer Churn  ·  Revenue Loss  ·  Expansion Risk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47472" y="4389120"/>
            <a:ext cx="199339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47472" y="440740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2828"/>
                </a:solidFill>
              </a:rPr>
              <a:t>29%</a:t>
            </a:r>
            <a:endParaRPr lang="en-US" sz="1600" dirty="0"/>
          </a:p>
        </p:txBody>
      </p:sp>
      <p:sp>
        <p:nvSpPr>
          <p:cNvPr id="34" name="Text 32"/>
          <p:cNvSpPr/>
          <p:nvPr/>
        </p:nvSpPr>
        <p:spPr>
          <a:xfrm>
            <a:off x="347472" y="469087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7A"/>
                </a:solidFill>
              </a:rPr>
              <a:t>OTIF (vs 65.9% target)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468880" y="4389120"/>
            <a:ext cx="199339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2468880" y="440740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2828"/>
                </a:solidFill>
              </a:rPr>
              <a:t>60%</a:t>
            </a:r>
            <a:endParaRPr lang="en-US" sz="1600" dirty="0"/>
          </a:p>
        </p:txBody>
      </p:sp>
      <p:sp>
        <p:nvSpPr>
          <p:cNvPr id="37" name="Text 35"/>
          <p:cNvSpPr/>
          <p:nvPr/>
        </p:nvSpPr>
        <p:spPr>
          <a:xfrm>
            <a:off x="2468880" y="469087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7A"/>
                </a:solidFill>
              </a:rPr>
              <a:t>Order Failure Rate</a:t>
            </a:r>
            <a:endParaRPr lang="en-US" sz="850" dirty="0"/>
          </a:p>
        </p:txBody>
      </p:sp>
      <p:sp>
        <p:nvSpPr>
          <p:cNvPr id="38" name="Shape 36"/>
          <p:cNvSpPr/>
          <p:nvPr/>
        </p:nvSpPr>
        <p:spPr>
          <a:xfrm>
            <a:off x="4590288" y="4389120"/>
            <a:ext cx="199339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90288" y="440740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2828"/>
                </a:solidFill>
              </a:rPr>
              <a:t>23K</a:t>
            </a:r>
            <a:endParaRPr lang="en-US" sz="1600" dirty="0"/>
          </a:p>
        </p:txBody>
      </p:sp>
      <p:sp>
        <p:nvSpPr>
          <p:cNvPr id="40" name="Text 38"/>
          <p:cNvSpPr/>
          <p:nvPr/>
        </p:nvSpPr>
        <p:spPr>
          <a:xfrm>
            <a:off x="4590288" y="469087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7A"/>
                </a:solidFill>
              </a:rPr>
              <a:t>Failed Orders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6711696" y="4389120"/>
            <a:ext cx="1993392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6711696" y="4407408"/>
            <a:ext cx="19933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62828"/>
                </a:solidFill>
              </a:rPr>
              <a:t>2 Days</a:t>
            </a:r>
            <a:endParaRPr lang="en-US" sz="1600" dirty="0"/>
          </a:p>
        </p:txBody>
      </p:sp>
      <p:sp>
        <p:nvSpPr>
          <p:cNvPr id="43" name="Text 41"/>
          <p:cNvSpPr/>
          <p:nvPr/>
        </p:nvSpPr>
        <p:spPr>
          <a:xfrm>
            <a:off x="6711696" y="4690872"/>
            <a:ext cx="1993392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5A6A7A"/>
                </a:solidFill>
              </a:rPr>
              <a:t>Avg Delay (Unchanged)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132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0"/>
            <a:ext cx="8412480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Recommendations — What We Need to Fix and In What Order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274320" y="804672"/>
            <a:ext cx="4251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804672"/>
            <a:ext cx="64008" cy="13258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29768" y="896112"/>
            <a:ext cx="384048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" y="896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6968" y="896112"/>
            <a:ext cx="1005840" cy="256032"/>
          </a:xfrm>
          <a:prstGeom prst="rect">
            <a:avLst/>
          </a:prstGeom>
          <a:solidFill>
            <a:srgbClr val="C62828">
              <a:alpha val="18000"/>
            </a:srgbClr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86968" y="896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62828"/>
                </a:solidFill>
              </a:rPr>
              <a:t>TOP PRIORITY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429768" y="12070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Fix Inventory Planning &amp; Stock Allocation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148132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Improve stock availability for all product lines.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Better demand forecasting so the right stock is ready.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Focus on Dairy first — it has the highest partial delivery rate.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Owner: Supply Planning Team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736592" y="804672"/>
            <a:ext cx="4251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736592" y="804672"/>
            <a:ext cx="64008" cy="1325880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892040" y="896112"/>
            <a:ext cx="384048" cy="256032"/>
          </a:xfrm>
          <a:prstGeom prst="rect">
            <a:avLst/>
          </a:prstGeom>
          <a:solidFill>
            <a:srgbClr val="C62828"/>
          </a:solidFill>
          <a:ln w="12700">
            <a:solidFill>
              <a:srgbClr val="C6282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89611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349240" y="896112"/>
            <a:ext cx="1005840" cy="256032"/>
          </a:xfrm>
          <a:prstGeom prst="rect">
            <a:avLst/>
          </a:prstGeom>
          <a:solidFill>
            <a:srgbClr val="C62828">
              <a:alpha val="18000"/>
            </a:srgbClr>
          </a:solidFill>
          <a:ln w="6350">
            <a:solidFill>
              <a:srgbClr val="C628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349240" y="89611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C62828"/>
                </a:solidFill>
              </a:rPr>
              <a:t>TOP PRIORITY</a:t>
            </a:r>
            <a:endParaRPr lang="en-US" sz="750" dirty="0"/>
          </a:p>
        </p:txBody>
      </p:sp>
      <p:sp>
        <p:nvSpPr>
          <p:cNvPr id="18" name="Text 16"/>
          <p:cNvSpPr/>
          <p:nvPr/>
        </p:nvSpPr>
        <p:spPr>
          <a:xfrm>
            <a:off x="4892040" y="120700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Immediate Recovery Plan for Red-Zone Customers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892040" y="148132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Coolblue, Acclaimed Stores, Lotus Mart need dedicated attention.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Assign account managers. Give them priority stock + delivery.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Set a 30-day target and review progress weekly.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Owner: Sales + Supply Chain Team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74320" y="2221992"/>
            <a:ext cx="4251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74320" y="2221992"/>
            <a:ext cx="64008" cy="1325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29768" y="2313432"/>
            <a:ext cx="384048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29768" y="23134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03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886968" y="2313432"/>
            <a:ext cx="1005840" cy="256032"/>
          </a:xfrm>
          <a:prstGeom prst="rect">
            <a:avLst/>
          </a:prstGeom>
          <a:solidFill>
            <a:srgbClr val="E65100">
              <a:alpha val="18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86968" y="23134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65100"/>
                </a:solidFill>
              </a:rPr>
              <a:t>HIGH</a:t>
            </a:r>
            <a:endParaRPr lang="en-US" sz="750" dirty="0"/>
          </a:p>
        </p:txBody>
      </p:sp>
      <p:sp>
        <p:nvSpPr>
          <p:cNvPr id="26" name="Text 24"/>
          <p:cNvSpPr/>
          <p:nvPr/>
        </p:nvSpPr>
        <p:spPr>
          <a:xfrm>
            <a:off x="429768" y="2624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Improve Delivery Efficiency — Cut the 1–2 Day Delays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9768" y="289864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80% of late orders are only 1–2 days delayed.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Optimize delivery routes and dispatch scheduling.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This single fix could recover 8,000+ late orders.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Owner: Warehouse &amp; Distribution Team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36592" y="2221992"/>
            <a:ext cx="4251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36592" y="2221992"/>
            <a:ext cx="64008" cy="1325880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92040" y="2313432"/>
            <a:ext cx="384048" cy="256032"/>
          </a:xfrm>
          <a:prstGeom prst="rect">
            <a:avLst/>
          </a:prstGeom>
          <a:solidFill>
            <a:srgbClr val="E65100"/>
          </a:solidFill>
          <a:ln w="12700">
            <a:solidFill>
              <a:srgbClr val="E651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92040" y="231343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349240" y="2313432"/>
            <a:ext cx="1005840" cy="256032"/>
          </a:xfrm>
          <a:prstGeom prst="rect">
            <a:avLst/>
          </a:prstGeom>
          <a:solidFill>
            <a:srgbClr val="E65100">
              <a:alpha val="18000"/>
            </a:srgbClr>
          </a:solidFill>
          <a:ln w="6350">
            <a:solidFill>
              <a:srgbClr val="E6510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349240" y="231343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E65100"/>
                </a:solidFill>
              </a:rPr>
              <a:t>HIGH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892040" y="262432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City-Level Fix: Vadodara Needs Urgent Attention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892040" y="289864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Vadodara has the worst OTIF (27.8%) and IF% (51.6%).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Increase safety stock levels for top products there.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Do a full audit of local warehouse and delivery process.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Owner: Regional Logistics Team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274320" y="3639312"/>
            <a:ext cx="4251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274320" y="3639312"/>
            <a:ext cx="64008" cy="132588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429768" y="3730752"/>
            <a:ext cx="384048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29768" y="3730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05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886968" y="3730752"/>
            <a:ext cx="1005840" cy="256032"/>
          </a:xfrm>
          <a:prstGeom prst="rect">
            <a:avLst/>
          </a:prstGeom>
          <a:solidFill>
            <a:srgbClr val="1565C0">
              <a:alpha val="18000"/>
            </a:srgbClr>
          </a:solidFill>
          <a:ln w="6350">
            <a:solidFill>
              <a:srgbClr val="1565C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86968" y="37307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1565C0"/>
                </a:solidFill>
              </a:rPr>
              <a:t>MEDIUM</a:t>
            </a:r>
            <a:endParaRPr lang="en-US" sz="750" dirty="0"/>
          </a:p>
        </p:txBody>
      </p:sp>
      <p:sp>
        <p:nvSpPr>
          <p:cNvPr id="42" name="Text 40"/>
          <p:cNvSpPr/>
          <p:nvPr/>
        </p:nvSpPr>
        <p:spPr>
          <a:xfrm>
            <a:off x="429768" y="40416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Set Up Daily OTIF Monitoring &amp; Alert System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29768" y="431596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Use this dashboard as a daily review tool.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Set alerts when any customer OTIF drops below 50%.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Weekly review by supply chain leadership using Trend page.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Owner: Data Analytics + SCM Head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736592" y="3639312"/>
            <a:ext cx="4251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DEAF6"/>
            </a:solidFill>
            <a:prstDash val="solid"/>
          </a:ln>
          <a:effectLst>
            <a:outerShdw blurRad="63500" dist="25400" dir="162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4736592" y="3639312"/>
            <a:ext cx="64008" cy="1325880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892040" y="3730752"/>
            <a:ext cx="384048" cy="256032"/>
          </a:xfrm>
          <a:prstGeom prst="rect">
            <a:avLst/>
          </a:prstGeom>
          <a:solidFill>
            <a:srgbClr val="0D1B40"/>
          </a:solidFill>
          <a:ln w="12700">
            <a:solidFill>
              <a:srgbClr val="0D1B4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92040" y="3730752"/>
            <a:ext cx="384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06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5349240" y="3730752"/>
            <a:ext cx="1005840" cy="256032"/>
          </a:xfrm>
          <a:prstGeom prst="rect">
            <a:avLst/>
          </a:prstGeom>
          <a:solidFill>
            <a:srgbClr val="0D1B40">
              <a:alpha val="18000"/>
            </a:srgbClr>
          </a:solidFill>
          <a:ln w="6350">
            <a:solidFill>
              <a:srgbClr val="0D1B4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49240" y="3730752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0D1B40"/>
                </a:solidFill>
              </a:rPr>
              <a:t>IMPORTANT RULE</a:t>
            </a:r>
            <a:endParaRPr lang="en-US" sz="750" dirty="0"/>
          </a:p>
        </p:txBody>
      </p:sp>
      <p:sp>
        <p:nvSpPr>
          <p:cNvPr id="50" name="Text 48"/>
          <p:cNvSpPr/>
          <p:nvPr/>
        </p:nvSpPr>
        <p:spPr>
          <a:xfrm>
            <a:off x="4892040" y="4041648"/>
            <a:ext cx="3931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E293B"/>
                </a:solidFill>
              </a:rPr>
              <a:t>Do NOT Expand Until OTIF Reaches at Least 50%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892040" y="4315968"/>
            <a:ext cx="39319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Expanding now will only spread these problems to new cities.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Set a clear gate: city-level OTIF must be ≥ 50% before any expansion.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Protects brand reputation in new Tier-1 markets.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5A6A7A"/>
                </a:solidFill>
              </a:rPr>
              <a:t>Owner: Director + Supply Chain Head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3566160"/>
            <a:ext cx="9144000" cy="1581912"/>
          </a:xfrm>
          <a:prstGeom prst="rect">
            <a:avLst/>
          </a:prstGeom>
          <a:solidFill>
            <a:srgbClr val="0A1530"/>
          </a:solidFill>
          <a:ln w="12700">
            <a:solidFill>
              <a:srgbClr val="0A153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686800" y="0"/>
            <a:ext cx="45720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45720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000" dirty="0"/>
          </a:p>
        </p:txBody>
      </p:sp>
      <p:sp>
        <p:nvSpPr>
          <p:cNvPr id="5" name="Shape 3"/>
          <p:cNvSpPr/>
          <p:nvPr/>
        </p:nvSpPr>
        <p:spPr>
          <a:xfrm>
            <a:off x="640080" y="1481328"/>
            <a:ext cx="5029200" cy="0"/>
          </a:xfrm>
          <a:prstGeom prst="line">
            <a:avLst/>
          </a:prstGeom>
          <a:noFill/>
          <a:ln w="25400">
            <a:solidFill>
              <a:srgbClr val="0891B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664208"/>
            <a:ext cx="7315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is clear. The problem is fixable.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A8C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OTIF. Keep customers. Then grow.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743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</a:rPr>
              <a:t>29%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2735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8E8"/>
                </a:solidFill>
              </a:rPr>
              <a:t>OTIF (target: 65.9%)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651760" y="2743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</a:rPr>
              <a:t>60%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651760" y="32735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8E8"/>
                </a:solidFill>
              </a:rPr>
              <a:t>Order Failure Rate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4663440" y="2743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E65100"/>
                </a:solidFill>
              </a:rPr>
              <a:t>+36pp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4663440" y="32735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8E8"/>
                </a:solidFill>
              </a:rPr>
              <a:t>OTIF Gap to Close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675120" y="274320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C62828"/>
                </a:solidFill>
              </a:rPr>
              <a:t>23K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675120" y="3273552"/>
            <a:ext cx="1828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BB8E8"/>
                </a:solidFill>
              </a:rPr>
              <a:t>Orders That Failed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40080" y="4187952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45577"/>
                </a:solidFill>
              </a:rPr>
              <a:t>Monalika Ghosh ·  Data Analyst, AtliQ Mart  ·  Supply Chain Analytics Team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640080" y="4498848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45577"/>
                </a:solidFill>
              </a:rPr>
              <a:t>Dashboard built in Power BI  ·  March – August 2022  ·  Surat · Ahmedabad · Vadodara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60</TotalTime>
  <Words>2432</Words>
  <Application>Microsoft Office PowerPoint</Application>
  <PresentationFormat>On-screen Show (16:9)</PresentationFormat>
  <Paragraphs>282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AtliQ Mart Supply Chain Analysis</dc:title>
  <dc:subject>PptxGenJS Presentation</dc:subject>
  <dc:creator>Peter Pandey</dc:creator>
  <cp:lastModifiedBy>Monalika Ghosh</cp:lastModifiedBy>
  <cp:revision>2</cp:revision>
  <dcterms:created xsi:type="dcterms:W3CDTF">2026-04-29T14:25:36Z</dcterms:created>
  <dcterms:modified xsi:type="dcterms:W3CDTF">2026-04-29T15:26:45Z</dcterms:modified>
</cp:coreProperties>
</file>